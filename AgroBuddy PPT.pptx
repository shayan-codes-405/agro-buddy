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5" r:id="rId17"/>
    <p:sldId id="28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gro-buddy-psi.vercel.app/" TargetMode="Externa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hyperlink" Target="https://agro-buddy-psi.vercel.app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gro-buddy-psi.vercel.app/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hyperlink" Target="https://agro-buddy-psi.vercel.app/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gro-buddy-psi.vercel.app/" TargetMode="Externa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gro-buddy-psi.vercel.app/" TargetMode="Externa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hyperlink" Target="https://agro-buddy-psi.vercel.app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4.png"/><Relationship Id="rId7" Type="http://schemas.openxmlformats.org/officeDocument/2006/relationships/hyperlink" Target="https://github.com/shayan-codes-405/agro-buddy.git" TargetMode="External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5934075"/>
            <a:ext cx="10896600" cy="466725"/>
          </a:xfrm>
          <a:prstGeom prst="rect">
            <a:avLst/>
          </a:prstGeom>
          <a:solidFill>
            <a:srgbClr val="EF4444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7700" y="2160389"/>
            <a:ext cx="5756523" cy="1714500"/>
          </a:xfrm>
          <a:prstGeom prst="rect">
            <a:avLst/>
          </a:prstGeom>
          <a:solidFill>
            <a:srgbClr val="FACC15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7700" y="4027289"/>
            <a:ext cx="5756523" cy="879871"/>
          </a:xfrm>
          <a:prstGeom prst="rect">
            <a:avLst/>
          </a:prstGeom>
          <a:solidFill>
            <a:srgbClr val="1F2937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47123" y="2047875"/>
            <a:ext cx="2322314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21837" y="2047875"/>
            <a:ext cx="2322462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47123" y="3609975"/>
            <a:ext cx="2322314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21837" y="3609975"/>
            <a:ext cx="2322462" cy="14097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0" y="6062662"/>
            <a:ext cx="18097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830" y="2257425"/>
            <a:ext cx="342900" cy="304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494" y="2257425"/>
            <a:ext cx="3810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030" y="3819525"/>
            <a:ext cx="1905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2494" y="3819525"/>
            <a:ext cx="381000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6775" y="6057900"/>
            <a:ext cx="779264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FFFFF"/>
                </a:solidFill>
                <a:latin typeface="Bangers"/>
              </a:rPr>
              <a:t>MISSION: TURNING FRAGMENTED SIGNALS INTO ACTIONABLE BOARD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541139"/>
            <a:ext cx="4643437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 dirty="0">
                <a:solidFill>
                  <a:srgbClr val="FACC15"/>
                </a:solidFill>
                <a:latin typeface="Bebas Neue"/>
              </a:rPr>
              <a:t>AGROBUDDY MARKET INTELLIGENCE CHRONICLES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2336811"/>
            <a:ext cx="5022401" cy="5739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650"/>
              </a:lnSpc>
            </a:pPr>
            <a:r>
              <a:rPr sz="3600" b="1" i="0" u="none" dirty="0">
                <a:solidFill>
                  <a:srgbClr val="000000"/>
                </a:solidFill>
                <a:latin typeface="Bangers"/>
              </a:rPr>
              <a:t>THE MANDI HAS A STORY!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12889"/>
            <a:ext cx="5318373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F2937"/>
                </a:solidFill>
                <a:latin typeface="Space Grotesk"/>
              </a:rPr>
              <a:t>"The problem isn't finding bad numbers. It's finding bad combinations."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4227314"/>
            <a:ext cx="5451723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 i="0" u="none">
                <a:solidFill>
                  <a:srgbClr val="EF4444"/>
                </a:solidFill>
                <a:latin typeface="Space Grotesk"/>
              </a:rPr>
              <a:t>5.4M+ Quintals</a:t>
            </a:r>
            <a:r>
              <a:rPr sz="1350" b="1" i="0" u="none">
                <a:solidFill>
                  <a:srgbClr val="FFFFFF"/>
                </a:solidFill>
                <a:latin typeface="Space Grotesk"/>
              </a:rPr>
              <a:t> moving across 57 Mandis. But where is the operational stress lurking?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2561" y="2609850"/>
            <a:ext cx="2379017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0" i="0" u="none">
                <a:solidFill>
                  <a:srgbClr val="DC2626"/>
                </a:solidFill>
                <a:latin typeface="Bangers"/>
              </a:rPr>
              <a:t>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18771" y="3048000"/>
            <a:ext cx="23790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Space Grotesk"/>
              </a:rPr>
              <a:t>KEY MANDIS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3466" y="2609850"/>
            <a:ext cx="2379203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0" i="0" u="none">
                <a:solidFill>
                  <a:srgbClr val="2563EB"/>
                </a:solidFill>
                <a:latin typeface="Bangers"/>
              </a:rPr>
              <a:t>9,724+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3466" y="3048000"/>
            <a:ext cx="23792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Space Grotesk"/>
              </a:rPr>
              <a:t>FREIGHT TRIPS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8771" y="4171950"/>
            <a:ext cx="2379017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0" i="0" u="none">
                <a:solidFill>
                  <a:srgbClr val="16A34A"/>
                </a:solidFill>
                <a:latin typeface="Bangers"/>
              </a:rPr>
              <a:t>12,000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8771" y="4610100"/>
            <a:ext cx="237901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Space Grotesk"/>
              </a:rPr>
              <a:t>PRICE RECORDS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3466" y="4171950"/>
            <a:ext cx="2379203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3150" b="0" i="0" u="none">
                <a:solidFill>
                  <a:srgbClr val="0F172A"/>
                </a:solidFill>
                <a:latin typeface="Bangers"/>
              </a:rPr>
              <a:t>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3466" y="4610100"/>
            <a:ext cx="23792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Space Grotesk"/>
              </a:rPr>
              <a:t>WEATHER NODES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29300"/>
            <a:ext cx="10972800" cy="5715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86850" y="790575"/>
            <a:ext cx="2495550" cy="40957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257425"/>
            <a:ext cx="2072580" cy="266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834580" y="2257425"/>
            <a:ext cx="2072580" cy="266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59560" y="2257425"/>
            <a:ext cx="2072580" cy="266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84541" y="2257425"/>
            <a:ext cx="2072580" cy="266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09521" y="2257425"/>
            <a:ext cx="2072580" cy="26670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57200"/>
            <a:ext cx="2286000" cy="266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9150" y="4352925"/>
            <a:ext cx="1653480" cy="3619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44130" y="4181475"/>
            <a:ext cx="1653480" cy="533400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69110" y="4181475"/>
            <a:ext cx="1653480" cy="53340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94091" y="4352925"/>
            <a:ext cx="1653480" cy="361950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719071" y="4352925"/>
            <a:ext cx="1653480" cy="361950"/>
          </a:xfrm>
          <a:prstGeom prst="rect">
            <a:avLst/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150" y="2466975"/>
            <a:ext cx="1653480" cy="295275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044130" y="2466975"/>
            <a:ext cx="1653480" cy="295275"/>
          </a:xfrm>
          <a:prstGeom prst="rect">
            <a:avLst/>
          </a:prstGeom>
          <a:solidFill>
            <a:srgbClr val="FED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69110" y="2466975"/>
            <a:ext cx="1653480" cy="295275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4091" y="2466975"/>
            <a:ext cx="1653480" cy="295275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719071" y="2466975"/>
            <a:ext cx="1653480" cy="295275"/>
          </a:xfrm>
          <a:prstGeom prst="rect">
            <a:avLst/>
          </a:prstGeom>
          <a:solidFill>
            <a:srgbClr val="E9D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5981700"/>
            <a:ext cx="23812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315" y="2543175"/>
            <a:ext cx="1428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545" y="2543175"/>
            <a:ext cx="14287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001" y="2543175"/>
            <a:ext cx="14287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631" y="2543175"/>
            <a:ext cx="1809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0999" y="2543175"/>
            <a:ext cx="142875" cy="142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66825" y="5995987"/>
            <a:ext cx="10925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111827"/>
                </a:solidFill>
                <a:latin typeface="Space Grotesk"/>
              </a:rPr>
              <a:t>The AgroBuddy Mandate: Before AI could understand the market, we had to make the market understandable.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850" y="485775"/>
            <a:ext cx="21907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Space Grotesk"/>
              </a:rPr>
              <a:t>CHAPTER 1: CHAOS AT THE GATES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62000"/>
            <a:ext cx="7263407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450" b="1" i="0" u="none">
                <a:solidFill>
                  <a:srgbClr val="000000"/>
                </a:solidFill>
                <a:latin typeface="Bangers"/>
              </a:rPr>
              <a:t>ONE MARKET. FIVE DATA DISASTERS!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825" y="895350"/>
            <a:ext cx="2667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DC2626"/>
                </a:solidFill>
                <a:latin typeface="Bebas Neue"/>
              </a:rPr>
              <a:t>RAW DATA WAS NEVER READY FOR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664" y="4429125"/>
            <a:ext cx="1914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91B1B"/>
                </a:solidFill>
                <a:latin typeface="Space Grotesk"/>
              </a:rPr>
              <a:t>NO UNIT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13645" y="4257675"/>
            <a:ext cx="19144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A3412"/>
                </a:solidFill>
                <a:latin typeface="Space Grotesk"/>
              </a:rPr>
              <a:t>MULTILINGUAL ALIASES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625" y="4257675"/>
            <a:ext cx="19144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66534"/>
                </a:solidFill>
                <a:latin typeface="Space Grotesk"/>
              </a:rPr>
              <a:t>UNPARSED CURRENCIES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3606" y="4429125"/>
            <a:ext cx="1914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75985"/>
                </a:solidFill>
                <a:latin typeface="Space Grotesk"/>
              </a:rPr>
              <a:t>TELEMETRY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8586" y="4429125"/>
            <a:ext cx="1914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B21A8"/>
                </a:solidFill>
                <a:latin typeface="Space Grotesk"/>
              </a:rPr>
              <a:t>SENSOR DRIFT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564" y="2505075"/>
            <a:ext cx="199065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ARRIVALS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150" y="2876550"/>
            <a:ext cx="2066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B91C1C"/>
                </a:solidFill>
                <a:latin typeface="Bangers"/>
              </a:rPr>
              <a:t>UNIT MUDDLE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150" y="3219450"/>
            <a:ext cx="17487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4151"/>
                </a:solidFill>
                <a:latin typeface="Space Grotesk"/>
              </a:rPr>
              <a:t>KG, Quintal, MT mixed arbitrarily in manifests.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5545" y="2505075"/>
            <a:ext cx="199065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CROPS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4130" y="2876550"/>
            <a:ext cx="2066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C2410C"/>
                </a:solidFill>
                <a:latin typeface="Bangers"/>
              </a:rPr>
              <a:t>SPELLING WAR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4130" y="3219450"/>
            <a:ext cx="17487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4151"/>
                </a:solidFill>
                <a:latin typeface="Space Grotesk"/>
              </a:rPr>
              <a:t>"Wheat", "GEHUN", "गेहूं" recorded as distinct crops.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0525" y="2505075"/>
            <a:ext cx="199065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PRICES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69110" y="2876550"/>
            <a:ext cx="2066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15803D"/>
                </a:solidFill>
                <a:latin typeface="Bangers"/>
              </a:rPr>
              <a:t>SYNTAX HAVOC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69110" y="3219450"/>
            <a:ext cx="174873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4151"/>
                </a:solidFill>
                <a:latin typeface="Space Grotesk"/>
              </a:rPr>
              <a:t>₹2,318 vs INR 2,090 vs 2,104.19/- raw strings.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25506" y="2505075"/>
            <a:ext cx="1990650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LOGISTICS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4091" y="2876550"/>
            <a:ext cx="2066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369A1"/>
                </a:solidFill>
                <a:latin typeface="Bangers"/>
              </a:rPr>
              <a:t>LOST TRIPS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4091" y="3219450"/>
            <a:ext cx="174873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4151"/>
                </a:solidFill>
                <a:latin typeface="Space Grotesk"/>
              </a:rPr>
              <a:t>Missing drop timestamps and impossible transit times.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0486" y="2505075"/>
            <a:ext cx="1990650" cy="219075"/>
          </a:xfrm>
          <a:prstGeom prst="rect">
            <a:avLst/>
          </a:prstGeom>
          <a:noFill/>
        </p:spPr>
        <p:txBody>
          <a:bodyPr wrap="square" lIns="14287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WEATHER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9071" y="2876550"/>
            <a:ext cx="20668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7E22CE"/>
                </a:solidFill>
                <a:latin typeface="Bangers"/>
              </a:rPr>
              <a:t>SCALE CLASH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19071" y="3219450"/>
            <a:ext cx="174873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74151"/>
                </a:solidFill>
                <a:latin typeface="Space Grotesk"/>
              </a:rPr>
              <a:t>Inches mixed with mm; °F alongside °C records.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791200"/>
            <a:ext cx="10972800" cy="609600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696325" y="642937"/>
            <a:ext cx="2886075" cy="352425"/>
          </a:xfrm>
          <a:prstGeom prst="rect">
            <a:avLst/>
          </a:prstGeom>
          <a:solidFill>
            <a:srgbClr val="FEF08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638425"/>
            <a:ext cx="2600325" cy="1847850"/>
          </a:xfrm>
          <a:prstGeom prst="rect">
            <a:avLst/>
          </a:prstGeom>
          <a:solidFill>
            <a:srgbClr val="F8FAFC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0425" y="2638425"/>
            <a:ext cx="2600325" cy="1847850"/>
          </a:xfrm>
          <a:prstGeom prst="rect">
            <a:avLst/>
          </a:prstGeom>
          <a:solidFill>
            <a:srgbClr val="F8FAFC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91250" y="2638425"/>
            <a:ext cx="2600325" cy="1847850"/>
          </a:xfrm>
          <a:prstGeom prst="rect">
            <a:avLst/>
          </a:prstGeom>
          <a:solidFill>
            <a:srgbClr val="F8FAFC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82075" y="2638425"/>
            <a:ext cx="2600325" cy="1847850"/>
          </a:xfrm>
          <a:prstGeom prst="rect">
            <a:avLst/>
          </a:prstGeom>
          <a:solidFill>
            <a:srgbClr val="F8FAFC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67850" y="5953125"/>
            <a:ext cx="1857375" cy="2857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457200"/>
            <a:ext cx="1009650" cy="238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625" y="3171825"/>
            <a:ext cx="2200275" cy="3619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9625" y="3895725"/>
            <a:ext cx="2200275" cy="390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00450" y="3171825"/>
            <a:ext cx="2200275" cy="3619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00450" y="3895725"/>
            <a:ext cx="2200275" cy="390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91275" y="3171825"/>
            <a:ext cx="2200275" cy="3619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91275" y="3895725"/>
            <a:ext cx="2200275" cy="390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82100" y="3171825"/>
            <a:ext cx="2200275" cy="36195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82100" y="3895725"/>
            <a:ext cx="2200275" cy="3905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82150" y="5991225"/>
            <a:ext cx="17240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Space Grotesk"/>
              </a:rPr>
              <a:t>PROVENANCE PRESERVED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6250"/>
            <a:ext cx="952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GATE 2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33425"/>
            <a:ext cx="7913489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000000"/>
                </a:solidFill>
                <a:latin typeface="Bangers"/>
              </a:rPr>
              <a:t>DATA RESCUE: ZERO TO TRUSTED SIGNAL!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34450" y="728662"/>
            <a:ext cx="31075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0000"/>
                </a:solidFill>
                <a:latin typeface="Space Grotesk"/>
              </a:rPr>
              <a:t>63,150 RECORDS CLEANED &amp;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8384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2563EB"/>
                </a:solidFill>
                <a:latin typeface="Bangers"/>
              </a:rPr>
              <a:t>CROP ALIASES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5825" y="3248025"/>
            <a:ext cx="2143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Space Grotesk"/>
              </a:rPr>
              <a:t>GEHUN / गेहूं / WHEAT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590" y="36099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Space Grotesk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0790" y="3971925"/>
            <a:ext cx="25979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Space Grotesk"/>
              </a:rPr>
              <a:t>Wheat (Standard)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450" y="28384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6A34A"/>
                </a:solidFill>
                <a:latin typeface="Bangers"/>
              </a:rPr>
              <a:t>PRICE STRINGS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6650" y="3248025"/>
            <a:ext cx="2143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Space Grotesk"/>
              </a:rPr>
              <a:t>₹2,318.60 / INR 2,090/-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5415" y="36099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Space Grotesk"/>
              </a:rPr>
              <a:t>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615" y="3971925"/>
            <a:ext cx="25979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Space Grotesk"/>
              </a:rPr>
              <a:t>Numeric Float (₹)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275" y="28384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97706"/>
                </a:solidFill>
                <a:latin typeface="Bangers"/>
              </a:rPr>
              <a:t>METRIC UNITS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7475" y="3248025"/>
            <a:ext cx="2143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Space Grotesk"/>
              </a:rPr>
              <a:t>KG / MT / QTL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16240" y="36099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Space Grotesk"/>
              </a:rPr>
              <a:t>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2440" y="3971925"/>
            <a:ext cx="25979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Space Grotesk"/>
              </a:rPr>
              <a:t>Quintal (Qtl)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2100" y="2838450"/>
            <a:ext cx="275034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DC2626"/>
                </a:solidFill>
                <a:latin typeface="Bangers"/>
              </a:rPr>
              <a:t>ANOMALIES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8300" y="3248025"/>
            <a:ext cx="21431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Space Grotesk"/>
              </a:rPr>
              <a:t>Missing Timestamps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07065" y="3609975"/>
            <a:ext cx="27503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00000"/>
                </a:solidFill>
                <a:latin typeface="Space Grotesk"/>
              </a:rPr>
              <a:t>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83265" y="3971925"/>
            <a:ext cx="2597943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6534"/>
                </a:solidFill>
                <a:latin typeface="Space Grotesk"/>
              </a:rPr>
              <a:t>Flagged + Audited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6775" y="5995987"/>
            <a:ext cx="23455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Arrivals: </a:t>
            </a:r>
            <a:r>
              <a:rPr sz="1200" b="1" i="0" u="none">
                <a:solidFill>
                  <a:srgbClr val="FACC15"/>
                </a:solidFill>
                <a:latin typeface="Space Grotesk"/>
              </a:rPr>
              <a:t>25,750 → 25,000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86100" y="5995987"/>
            <a:ext cx="2643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Mandi Master: </a:t>
            </a:r>
            <a:r>
              <a:rPr sz="1200" b="1" i="0" u="none">
                <a:solidFill>
                  <a:srgbClr val="FACC15"/>
                </a:solidFill>
                <a:latin typeface="Space Grotesk"/>
              </a:rPr>
              <a:t>60 → 57 Clean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3550" y="5995987"/>
            <a:ext cx="2059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Trips: </a:t>
            </a:r>
            <a:r>
              <a:rPr sz="1200" b="1" i="0" u="none">
                <a:solidFill>
                  <a:srgbClr val="FACC15"/>
                </a:solidFill>
                <a:latin typeface="Space Grotesk"/>
              </a:rPr>
              <a:t>10,400 → 10,000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67425"/>
            <a:ext cx="11049000" cy="409575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23866" y="385317"/>
            <a:ext cx="2781300" cy="3143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47850"/>
            <a:ext cx="6026794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1352550" cy="2381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62150"/>
            <a:ext cx="5798194" cy="228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788794" y="2286892"/>
            <a:ext cx="4831705" cy="133156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88794" y="3732758"/>
            <a:ext cx="4831705" cy="12382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31669" y="3875633"/>
            <a:ext cx="1477119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65939" y="3875633"/>
            <a:ext cx="1477267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00357" y="3875633"/>
            <a:ext cx="1477267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31669" y="4380458"/>
            <a:ext cx="1477119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465939" y="4380458"/>
            <a:ext cx="1477267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00357" y="4380458"/>
            <a:ext cx="1477267" cy="447675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47900"/>
            <a:ext cx="5798194" cy="3048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2019300"/>
            <a:ext cx="114300" cy="1143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266950"/>
            <a:ext cx="5760094" cy="3009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2950" y="6143625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Space Grotesk"/>
              </a:rPr>
              <a:t>⚡ KEY TAKEAWAY: Cotton &amp; Mustard show deeper rupee shortfalls despite fewer instances than Wheat.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4572" y="442466"/>
            <a:ext cx="26098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ACC15"/>
                </a:solidFill>
                <a:latin typeface="Space Grotesk"/>
              </a:rPr>
              <a:t>"THE AVERAGE HIDES THE FARMER"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00050"/>
            <a:ext cx="12573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SHOCK REVELATION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" y="707042"/>
            <a:ext cx="9382422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150" b="1" i="0" u="none" dirty="0">
                <a:solidFill>
                  <a:srgbClr val="000000"/>
                </a:solidFill>
                <a:latin typeface="Bangers"/>
              </a:rPr>
              <a:t>THE AVERAGE LOOKS HEALTHY. THE TRUTH DOESN'T!</a:t>
            </a:r>
          </a:p>
        </p:txBody>
      </p:sp>
      <p:sp>
        <p:nvSpPr>
          <p:cNvPr id="22" name="TextBox 21">
            <a:hlinkClick r:id="rId5"/>
          </p:cNvPr>
          <p:cNvSpPr txBox="1"/>
          <p:nvPr/>
        </p:nvSpPr>
        <p:spPr>
          <a:xfrm>
            <a:off x="971550" y="2000250"/>
            <a:ext cx="574104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FARMER PRICE WATCH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2956" y="2477392"/>
            <a:ext cx="55633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5803D"/>
                </a:solidFill>
                <a:latin typeface="Space Grotesk"/>
              </a:rPr>
              <a:t>AVG MODAL ₹3,801 (+₹78 ABOVE MSP)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2956" y="2677417"/>
            <a:ext cx="5563381" cy="5314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184"/>
              </a:lnSpc>
            </a:pPr>
            <a:r>
              <a:rPr sz="4650" b="0" i="0" u="none">
                <a:solidFill>
                  <a:srgbClr val="DC2626"/>
                </a:solidFill>
                <a:latin typeface="Bangers"/>
              </a:rPr>
              <a:t>30.4%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2956" y="3246983"/>
            <a:ext cx="55633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00000"/>
                </a:solidFill>
                <a:latin typeface="Space Grotesk"/>
              </a:rPr>
              <a:t>PRICE OBSERVATIONS BELOW MSP!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8467" y="3932783"/>
            <a:ext cx="170352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Wheat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8467" y="4085183"/>
            <a:ext cx="17035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31.6%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2718" y="3932783"/>
            <a:ext cx="17037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Maize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2718" y="4085183"/>
            <a:ext cx="17037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30.9%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7136" y="3932783"/>
            <a:ext cx="17037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7136" y="4085183"/>
            <a:ext cx="17037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30.9%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8467" y="4437608"/>
            <a:ext cx="170352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Cotton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8467" y="4590008"/>
            <a:ext cx="170352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30.6%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2718" y="4437608"/>
            <a:ext cx="17037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Mustard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2718" y="4590008"/>
            <a:ext cx="17037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29.3%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87136" y="4437608"/>
            <a:ext cx="170370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00000"/>
                </a:solidFill>
                <a:latin typeface="Space Grotesk"/>
              </a:rPr>
              <a:t>Sugarcane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87136" y="4590008"/>
            <a:ext cx="17037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DC2626"/>
                </a:solidFill>
                <a:latin typeface="Space Grotesk"/>
              </a:rPr>
              <a:t>29.0%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86475"/>
            <a:ext cx="11049000" cy="390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410700" y="566737"/>
            <a:ext cx="2209800" cy="32385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57375"/>
            <a:ext cx="6429375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1381125" cy="238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71675"/>
            <a:ext cx="1971675" cy="2286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191375" y="2462212"/>
            <a:ext cx="4429125" cy="828675"/>
          </a:xfrm>
          <a:prstGeom prst="rect">
            <a:avLst/>
          </a:prstGeom>
          <a:solidFill>
            <a:srgbClr val="FACC15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91375" y="3386137"/>
            <a:ext cx="44291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91375" y="3757612"/>
            <a:ext cx="44291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91375" y="3681412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91375" y="3386137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91375" y="3386137"/>
            <a:ext cx="57150" cy="3143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601450" y="3386137"/>
            <a:ext cx="19050" cy="3143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91375" y="4129087"/>
            <a:ext cx="44291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91375" y="4052887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91375" y="3757612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91375" y="3757612"/>
            <a:ext cx="57150" cy="31432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601450" y="3757612"/>
            <a:ext cx="19050" cy="3143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91375" y="4500562"/>
            <a:ext cx="4429125" cy="314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91375" y="4424362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91375" y="4129087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91375" y="4129087"/>
            <a:ext cx="57150" cy="3143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601450" y="4129087"/>
            <a:ext cx="19050" cy="3143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191375" y="4795837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91375" y="4500562"/>
            <a:ext cx="4429125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91375" y="4500562"/>
            <a:ext cx="57150" cy="3143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601450" y="4500562"/>
            <a:ext cx="19050" cy="3143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550" y="6196012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575" y="661987"/>
            <a:ext cx="171450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57425"/>
            <a:ext cx="6200775" cy="30480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28825"/>
            <a:ext cx="133350" cy="11430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276475"/>
            <a:ext cx="6162675" cy="30099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2000" y="6181725"/>
            <a:ext cx="856059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ACC15"/>
                </a:solidFill>
                <a:latin typeface="Space Grotesk"/>
              </a:rPr>
              <a:t>AGROBUDDY MOTTO:</a:t>
            </a:r>
            <a:r>
              <a:rPr sz="1200" b="1" i="0" u="none">
                <a:solidFill>
                  <a:srgbClr val="FFFFFF"/>
                </a:solidFill>
                <a:latin typeface="Space Grotesk"/>
              </a:rPr>
              <a:t> Every dashboard is merely a lens over one underlying intelligence model.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400050"/>
            <a:ext cx="1285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SYSTEM BLUEPRINT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" y="647700"/>
            <a:ext cx="922615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FROM 5 DASHBOARDS TO ONE DECISION SURFACE!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2175" y="642937"/>
            <a:ext cx="2119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Space Grotesk"/>
              </a:rPr>
              <a:t>COMMAND CENTER UNIFIED</a:t>
            </a:r>
          </a:p>
        </p:txBody>
      </p:sp>
      <p:sp>
        <p:nvSpPr>
          <p:cNvPr id="37" name="TextBox 36">
            <a:hlinkClick r:id="rId7"/>
          </p:cNvPr>
          <p:cNvSpPr txBox="1"/>
          <p:nvPr/>
        </p:nvSpPr>
        <p:spPr>
          <a:xfrm>
            <a:off x="995362" y="2008717"/>
            <a:ext cx="191452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IN" sz="900" b="1" dirty="0">
                <a:solidFill>
                  <a:schemeClr val="bg1"/>
                </a:solidFill>
                <a:latin typeface="Space Grotesk"/>
              </a:rPr>
              <a:t>LIVE VIEW: COMMAND CENTER</a:t>
            </a:r>
            <a:endParaRPr sz="900" b="1" dirty="0">
              <a:solidFill>
                <a:schemeClr val="bg1"/>
              </a:solidFill>
              <a:latin typeface="Space Grotesk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30007" y="2624137"/>
            <a:ext cx="5351859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2400" b="1" i="0" u="none">
                <a:solidFill>
                  <a:srgbClr val="000000"/>
                </a:solidFill>
                <a:latin typeface="Bangers"/>
              </a:rPr>
              <a:t>AGROBUDDY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140" y="2967037"/>
            <a:ext cx="513159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11827"/>
                </a:solidFill>
                <a:latin typeface="Space Grotesk"/>
              </a:rPr>
              <a:t>DuckDB + FastAPI + ML + Groq Copilot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6625" y="3443287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1. OBSERVE SIGNAL (Arrivals, Price, Logistics, Weather)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86625" y="3814762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2. DIAGNOSE CAUSE (Cross-Domain Risk Engine)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86625" y="4186237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3. PREDICT RISK (7-Day ML Supply Horizon)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6625" y="4557712"/>
            <a:ext cx="4333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4. EXECUTE ACTION (Board Policy Intervention)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86475"/>
            <a:ext cx="11049000" cy="390525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34475" y="571500"/>
            <a:ext cx="2486025" cy="314325"/>
          </a:xfrm>
          <a:prstGeom prst="rect">
            <a:avLst/>
          </a:prstGeom>
          <a:solidFill>
            <a:srgbClr val="FEF08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57375"/>
            <a:ext cx="5774680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1571625" cy="2381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71675"/>
            <a:ext cx="1962150" cy="228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36680" y="2543175"/>
            <a:ext cx="5083819" cy="438150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36680" y="4352925"/>
            <a:ext cx="5083819" cy="3810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36680" y="3076575"/>
            <a:ext cx="2503735" cy="552450"/>
          </a:xfrm>
          <a:prstGeom prst="rect">
            <a:avLst/>
          </a:prstGeom>
          <a:solidFill>
            <a:srgbClr val="FEE2E2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16615" y="3076575"/>
            <a:ext cx="2503884" cy="552450"/>
          </a:xfrm>
          <a:prstGeom prst="rect">
            <a:avLst/>
          </a:prstGeom>
          <a:solidFill>
            <a:srgbClr val="FEF3C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536680" y="3705225"/>
            <a:ext cx="2503735" cy="552450"/>
          </a:xfrm>
          <a:prstGeom prst="rect">
            <a:avLst/>
          </a:prstGeom>
          <a:solidFill>
            <a:srgbClr val="FEF9C3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16615" y="3705225"/>
            <a:ext cx="2503884" cy="552450"/>
          </a:xfrm>
          <a:prstGeom prst="rect">
            <a:avLst/>
          </a:prstGeom>
          <a:solidFill>
            <a:srgbClr val="DCFCE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350" y="666750"/>
            <a:ext cx="12382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57425"/>
            <a:ext cx="5546080" cy="3048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28825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276475"/>
            <a:ext cx="5507980" cy="3009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3900" y="6162675"/>
            <a:ext cx="108394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0000"/>
                </a:solidFill>
                <a:latin typeface="Space Grotesk"/>
              </a:rPr>
              <a:t>⚡ DUAL-ACTION: Stops blanket subsidies — targets intervention to route bottlenecks or price floors directly.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400050"/>
            <a:ext cx="15144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3: RISK RADAR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" y="647700"/>
            <a:ext cx="635079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RISK DOESN'T LIVE IN ONE METRIC!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8325" y="647700"/>
            <a:ext cx="25241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DETERMINISTIC COMPOSITE MODEL</a:t>
            </a:r>
          </a:p>
        </p:txBody>
      </p:sp>
      <p:sp>
        <p:nvSpPr>
          <p:cNvPr id="21" name="TextBox 20">
            <a:hlinkClick r:id="rId6"/>
          </p:cNvPr>
          <p:cNvSpPr txBox="1"/>
          <p:nvPr/>
        </p:nvSpPr>
        <p:spPr>
          <a:xfrm>
            <a:off x="971550" y="2017183"/>
            <a:ext cx="1905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MANDI RISK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9796" y="2647950"/>
            <a:ext cx="59975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ACC15"/>
                </a:solidFill>
                <a:latin typeface="Bebas Neue"/>
              </a:rPr>
              <a:t>RISK = (0.45 × PRICE) + (0.25 × ARRIVALS) + (0.30 × LOGISTICS)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9796" y="4457700"/>
            <a:ext cx="59975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0000"/>
                </a:solidFill>
                <a:latin typeface="Space Grotesk"/>
              </a:rPr>
              <a:t>"The score tells where to look. The drivers explain why."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1930" y="3171825"/>
            <a:ext cx="2891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91B1B"/>
                </a:solidFill>
                <a:latin typeface="Bangers"/>
              </a:rPr>
              <a:t>DUAL STRESS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1930" y="3371850"/>
            <a:ext cx="28915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F2937"/>
                </a:solidFill>
                <a:latin typeface="Space Grotesk"/>
              </a:rPr>
              <a:t>Price slump + transit choke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1865" y="3171825"/>
            <a:ext cx="28917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2400E"/>
                </a:solidFill>
                <a:latin typeface="Bangers"/>
              </a:rPr>
              <a:t>TRANSIT BOTTLENECK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1865" y="3371850"/>
            <a:ext cx="289173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F2937"/>
                </a:solidFill>
                <a:latin typeface="Space Grotesk"/>
              </a:rPr>
              <a:t>Delayed routes, steady price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1930" y="3800475"/>
            <a:ext cx="289154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54D0E"/>
                </a:solidFill>
                <a:latin typeface="Bangers"/>
              </a:rPr>
              <a:t>PRICE VULNERABLE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1930" y="4000500"/>
            <a:ext cx="2891544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F2937"/>
                </a:solidFill>
                <a:latin typeface="Space Grotesk"/>
              </a:rPr>
              <a:t>Smooth transit, below MSP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11865" y="3800475"/>
            <a:ext cx="28917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66534"/>
                </a:solidFill>
                <a:latin typeface="Bangers"/>
              </a:rPr>
              <a:t>BASELINE NORMAL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1865" y="4000500"/>
            <a:ext cx="289173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F2937"/>
                </a:solidFill>
                <a:latin typeface="Space Grotesk"/>
              </a:rPr>
              <a:t>On-time drops, fair prices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29325"/>
            <a:ext cx="11049000" cy="447675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63100" y="571500"/>
            <a:ext cx="2057400" cy="3143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28800"/>
            <a:ext cx="6236791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2066925" cy="238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43100"/>
            <a:ext cx="2105025" cy="228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8791" y="2157412"/>
            <a:ext cx="4621708" cy="11811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98791" y="3433762"/>
            <a:ext cx="4621708" cy="11811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98791" y="4710112"/>
            <a:ext cx="4621708" cy="352425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975" y="6167437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975" y="666750"/>
            <a:ext cx="12382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228850"/>
            <a:ext cx="6008191" cy="3048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000250"/>
            <a:ext cx="142875" cy="1143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2247900"/>
            <a:ext cx="5970091" cy="3009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0575" y="6153150"/>
            <a:ext cx="7870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💥 </a:t>
            </a:r>
            <a:r>
              <a:rPr sz="1200" b="1" i="0" u="none">
                <a:solidFill>
                  <a:srgbClr val="FACC15"/>
                </a:solidFill>
                <a:latin typeface="Space Grotesk"/>
              </a:rPr>
              <a:t>OPERATIONAL INSIGHT:</a:t>
            </a:r>
            <a:r>
              <a:rPr sz="1200" b="1" i="0" u="none">
                <a:solidFill>
                  <a:srgbClr val="FFFFFF"/>
                </a:solidFill>
                <a:latin typeface="Space Grotesk"/>
              </a:rPr>
              <a:t> Distance explains the journey. It does NOT explain the delay.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00050"/>
            <a:ext cx="20097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4: LOGISTICS PARADOX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647700"/>
            <a:ext cx="740717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98.3% ON-TIME... UNTIL YOU ZOOM IN!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6950" y="647700"/>
            <a:ext cx="198834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Space Grotesk"/>
              </a:rPr>
              <a:t>ROUTE CORRIDOR ANALYSIS</a:t>
            </a:r>
          </a:p>
        </p:txBody>
      </p:sp>
      <p:sp>
        <p:nvSpPr>
          <p:cNvPr id="19" name="TextBox 18">
            <a:hlinkClick r:id="rId7"/>
          </p:cNvPr>
          <p:cNvSpPr txBox="1"/>
          <p:nvPr/>
        </p:nvSpPr>
        <p:spPr>
          <a:xfrm>
            <a:off x="1000125" y="1981200"/>
            <a:ext cx="2047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LOGISTICS 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9671" y="2300287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5803D"/>
                </a:solidFill>
                <a:latin typeface="Space Grotesk"/>
              </a:rPr>
              <a:t>TRIP LEVEL (AGGREGATE)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9671" y="2481262"/>
            <a:ext cx="5419948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16A34A"/>
                </a:solidFill>
                <a:latin typeface="Bangers"/>
              </a:rPr>
              <a:t>98.3%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9671" y="3033712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74151"/>
                </a:solidFill>
                <a:latin typeface="Space Grotesk"/>
              </a:rPr>
              <a:t>On-time delivery across 9,724+ trips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9671" y="3576637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B91C1C"/>
                </a:solidFill>
                <a:latin typeface="Space Grotesk"/>
              </a:rPr>
              <a:t>CORRIDOR LEVEL (REALITY)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9671" y="3757612"/>
            <a:ext cx="5419948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DC2626"/>
                </a:solidFill>
                <a:latin typeface="Bangers"/>
              </a:rPr>
              <a:t>70.2%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9671" y="4310062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374151"/>
                </a:solidFill>
                <a:latin typeface="Space Grotesk"/>
              </a:rPr>
              <a:t>Corridors meeting benchmark (342 total)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7765" y="4805362"/>
            <a:ext cx="544376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91B1B"/>
                </a:solidFill>
                <a:latin typeface="Space Grotesk"/>
              </a:rPr>
              <a:t>⚠️ 123 Critical Delay Trips Identified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67425"/>
            <a:ext cx="11049000" cy="409575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05950" y="571500"/>
            <a:ext cx="2114550" cy="3143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47850"/>
            <a:ext cx="6236791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2171700" cy="238125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62150"/>
            <a:ext cx="1676400" cy="228600"/>
          </a:xfrm>
          <a:prstGeom prst="rect">
            <a:avLst/>
          </a:prstGeom>
          <a:solidFill>
            <a:srgbClr val="7E2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8791" y="2500312"/>
            <a:ext cx="4621708" cy="8763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98791" y="3471862"/>
            <a:ext cx="4621708" cy="128587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41666" y="3881437"/>
            <a:ext cx="4335958" cy="21907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41666" y="4138612"/>
            <a:ext cx="4335958" cy="21907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41666" y="4395787"/>
            <a:ext cx="4335958" cy="21907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825" y="666750"/>
            <a:ext cx="12382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7900"/>
            <a:ext cx="6008191" cy="3048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19300"/>
            <a:ext cx="11430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266950"/>
            <a:ext cx="5970091" cy="3009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6143625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Space Grotesk"/>
              </a:rPr>
              <a:t>🎯 AgroBuddy doesn't just measure total supply. It measures supply predictability.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00050"/>
            <a:ext cx="2114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5: SUPPLY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47700"/>
            <a:ext cx="8069758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SUPPLY IS MOVING — BUT NOT PREDICTABLY!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647700"/>
            <a:ext cx="2059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7E22CE"/>
                </a:solidFill>
                <a:latin typeface="Space Grotesk"/>
              </a:rPr>
              <a:t>5.417M QTL TOTAL ARRIVALS</a:t>
            </a:r>
          </a:p>
        </p:txBody>
      </p:sp>
      <p:sp>
        <p:nvSpPr>
          <p:cNvPr id="20" name="TextBox 19">
            <a:hlinkClick r:id="rId6"/>
          </p:cNvPr>
          <p:cNvSpPr txBox="1"/>
          <p:nvPr/>
        </p:nvSpPr>
        <p:spPr>
          <a:xfrm>
            <a:off x="971550" y="2000250"/>
            <a:ext cx="16192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SUPPLY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666" y="2643187"/>
            <a:ext cx="505033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7E22CE"/>
                </a:solidFill>
                <a:latin typeface="Bangers"/>
              </a:rPr>
              <a:t>VOLUME: NO SINGLE MONOPOLY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666" y="2909887"/>
            <a:ext cx="443120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Top 5 Crops = 83.8% of aggregate mandi intake. Wheat (926k) &amp; Mustard (922k) lead with balanced shares.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1666" y="3614737"/>
            <a:ext cx="505033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C2626"/>
                </a:solidFill>
                <a:latin typeface="Bangers"/>
              </a:rPr>
              <a:t>VOLATILITY: INFLOW SHOCKS (CV)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17866" y="3910012"/>
            <a:ext cx="9429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Sugarcane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500" y="3910012"/>
            <a:ext cx="8286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Space Grotesk"/>
              </a:rPr>
              <a:t>34.2% 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7866" y="4167187"/>
            <a:ext cx="5429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7075" y="4167187"/>
            <a:ext cx="8001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Space Grotesk"/>
              </a:rPr>
              <a:t>33.1% CV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7866" y="4424362"/>
            <a:ext cx="6858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Wheat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58500" y="4424362"/>
            <a:ext cx="8286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91C1C"/>
                </a:solidFill>
                <a:latin typeface="Space Grotesk"/>
              </a:rPr>
              <a:t>33.0% CV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86475"/>
            <a:ext cx="11049000" cy="390525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382125" y="571500"/>
            <a:ext cx="2238375" cy="3143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57375"/>
            <a:ext cx="6236791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1828800" cy="23812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71675"/>
            <a:ext cx="2133600" cy="2286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98791" y="2462212"/>
            <a:ext cx="4621708" cy="11811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998791" y="3738562"/>
            <a:ext cx="4621708" cy="10763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41666" y="4119562"/>
            <a:ext cx="2139404" cy="24765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38220" y="4119562"/>
            <a:ext cx="2139404" cy="24765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41666" y="4424362"/>
            <a:ext cx="2139404" cy="2476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338220" y="4424362"/>
            <a:ext cx="2139404" cy="24765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0" y="666750"/>
            <a:ext cx="1428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57425"/>
            <a:ext cx="6008191" cy="3048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28825"/>
            <a:ext cx="114300" cy="1143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276475"/>
            <a:ext cx="5970091" cy="3009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1525" y="6191250"/>
            <a:ext cx="6298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Space Grotesk"/>
              </a:rPr>
              <a:t>💡 </a:t>
            </a:r>
            <a:r>
              <a:rPr sz="1125" b="1" i="0" u="none">
                <a:solidFill>
                  <a:srgbClr val="FACC15"/>
                </a:solidFill>
                <a:latin typeface="Space Grotesk"/>
              </a:rPr>
              <a:t>CORE PRINCIPLE:</a:t>
            </a:r>
            <a:r>
              <a:rPr sz="1125" b="1" i="0" u="none">
                <a:solidFill>
                  <a:srgbClr val="FFFFFF"/>
                </a:solidFill>
                <a:latin typeface="Space Grotesk"/>
              </a:rPr>
              <a:t> The forecast isn't the output. The planning signal is.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400050"/>
            <a:ext cx="17716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6: LOOKING AHEAD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47700"/>
            <a:ext cx="666333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WHAT HAPPENS IN THE NEXT 7 DAYS?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25025" y="647700"/>
            <a:ext cx="2190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D9488"/>
                </a:solidFill>
                <a:latin typeface="Space Grotesk"/>
              </a:rPr>
              <a:t>PREDICTIVE SUPPLY PLANNING</a:t>
            </a:r>
          </a:p>
        </p:txBody>
      </p:sp>
      <p:sp>
        <p:nvSpPr>
          <p:cNvPr id="22" name="TextBox 21">
            <a:hlinkClick r:id="rId6"/>
          </p:cNvPr>
          <p:cNvSpPr txBox="1"/>
          <p:nvPr/>
        </p:nvSpPr>
        <p:spPr>
          <a:xfrm>
            <a:off x="971550" y="2011892"/>
            <a:ext cx="20764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FORECAST &amp;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99671" y="2605087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F766E"/>
                </a:solidFill>
                <a:latin typeface="Space Grotesk"/>
              </a:rPr>
              <a:t>PROJECTED 7-DAY INFLOW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9671" y="2786062"/>
            <a:ext cx="5419948" cy="533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sz="4200" b="0" i="0" u="none">
                <a:solidFill>
                  <a:srgbClr val="0D9488"/>
                </a:solidFill>
                <a:latin typeface="Bangers"/>
              </a:rPr>
              <a:t>149.36k Qtl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9671" y="3338512"/>
            <a:ext cx="541994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4B5563"/>
                </a:solidFill>
                <a:latin typeface="Space Grotesk"/>
              </a:rPr>
              <a:t>Ridge Autoregressive ML Model (MAE: 1,005.9)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1666" y="3881437"/>
            <a:ext cx="5050333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000000"/>
                </a:solidFill>
                <a:latin typeface="Bangers"/>
              </a:rPr>
              <a:t>COMMODITY PLANNING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8816" y="4157662"/>
            <a:ext cx="212035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Space Grotesk"/>
              </a:rPr>
              <a:t>Wheat: </a:t>
            </a:r>
            <a:r>
              <a:rPr sz="900" b="1" i="0" u="none">
                <a:solidFill>
                  <a:srgbClr val="16A34A"/>
                </a:solidFill>
                <a:latin typeface="Space Grotesk"/>
              </a:rPr>
              <a:t>-3.8% Stable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95370" y="4157662"/>
            <a:ext cx="212035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Space Grotesk"/>
              </a:rPr>
              <a:t>Maize: </a:t>
            </a:r>
            <a:r>
              <a:rPr sz="900" b="1" i="0" u="none">
                <a:solidFill>
                  <a:srgbClr val="16A34A"/>
                </a:solidFill>
                <a:latin typeface="Space Grotesk"/>
              </a:rPr>
              <a:t>-4.9% Stable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8816" y="4462462"/>
            <a:ext cx="212035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Space Grotesk"/>
              </a:rPr>
              <a:t>Rice: </a:t>
            </a:r>
            <a:r>
              <a:rPr sz="900" b="1" i="0" u="none">
                <a:solidFill>
                  <a:srgbClr val="DC2626"/>
                </a:solidFill>
                <a:latin typeface="Space Grotesk"/>
              </a:rPr>
              <a:t>-13.7% Tight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95370" y="4462462"/>
            <a:ext cx="212035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Space Grotesk"/>
              </a:rPr>
              <a:t>Mustard: </a:t>
            </a:r>
            <a:r>
              <a:rPr sz="900" b="1" i="0" u="none">
                <a:solidFill>
                  <a:srgbClr val="DC2626"/>
                </a:solidFill>
                <a:latin typeface="Space Grotesk"/>
              </a:rPr>
              <a:t>-21.7% Tight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29325"/>
            <a:ext cx="11049000" cy="4476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534525" y="600075"/>
            <a:ext cx="2085975" cy="25717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28800"/>
            <a:ext cx="6236791" cy="35623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381000"/>
            <a:ext cx="2171700" cy="238125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943100"/>
            <a:ext cx="2247900" cy="2286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98791" y="2730400"/>
            <a:ext cx="4621708" cy="638175"/>
          </a:xfrm>
          <a:prstGeom prst="roundRect">
            <a:avLst>
              <a:gd name="adj" fmla="val 14925"/>
            </a:avLst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98791" y="3463825"/>
            <a:ext cx="4621708" cy="1025574"/>
          </a:xfrm>
          <a:prstGeom prst="roundRect">
            <a:avLst>
              <a:gd name="adj" fmla="val 9287"/>
            </a:avLst>
          </a:prstGeom>
          <a:solidFill>
            <a:srgbClr val="FEF08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8825" y="666750"/>
            <a:ext cx="12382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28850"/>
            <a:ext cx="6008191" cy="304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00250"/>
            <a:ext cx="142875" cy="11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247900"/>
            <a:ext cx="5970091" cy="3009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716" y="3611463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124575"/>
            <a:ext cx="10763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Space Grotesk"/>
              </a:rPr>
              <a:t>🛡️ </a:t>
            </a:r>
            <a:r>
              <a:rPr sz="1200" b="1" i="0" u="none">
                <a:solidFill>
                  <a:srgbClr val="FACC15"/>
                </a:solidFill>
                <a:latin typeface="Space Grotesk"/>
              </a:rPr>
              <a:t>GROUNDED AI:</a:t>
            </a:r>
            <a:r>
              <a:rPr sz="1200" b="1" i="0" u="none">
                <a:solidFill>
                  <a:srgbClr val="FFFFFF"/>
                </a:solidFill>
                <a:latin typeface="Space Grotesk"/>
              </a:rPr>
              <a:t> It isn't just about answering correctly. It's about refusing to invent!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400050"/>
            <a:ext cx="2114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7: TRUST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47700"/>
            <a:ext cx="8101012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THE WEATHER PROBLEM WE REFUSE TO FAKE!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647700"/>
            <a:ext cx="2095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ACC15"/>
                </a:solidFill>
                <a:latin typeface="Space Grotesk"/>
              </a:rPr>
              <a:t>ZERO HALLUCINATION GUARD</a:t>
            </a:r>
          </a:p>
        </p:txBody>
      </p:sp>
      <p:sp>
        <p:nvSpPr>
          <p:cNvPr id="18" name="TextBox 17">
            <a:hlinkClick r:id="rId7"/>
          </p:cNvPr>
          <p:cNvSpPr txBox="1"/>
          <p:nvPr/>
        </p:nvSpPr>
        <p:spPr>
          <a:xfrm>
            <a:off x="1000125" y="1981200"/>
            <a:ext cx="21907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LIVE VIEW: WEATHER &amp;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0716" y="2854225"/>
            <a:ext cx="503128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EA580C"/>
                </a:solidFill>
                <a:latin typeface="Space Grotesk"/>
              </a:rPr>
              <a:t>BOARD QUERY: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0716" y="3035200"/>
            <a:ext cx="503128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111827"/>
                </a:solidFill>
                <a:latin typeface="Bangers"/>
              </a:rPr>
              <a:t>"Which mandi was affected most by rainfall?"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60716" y="3806725"/>
            <a:ext cx="4393108" cy="539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sz="1050" b="1" i="0" u="none">
                <a:solidFill>
                  <a:srgbClr val="1F2937"/>
                </a:solidFill>
                <a:latin typeface="Space Grotesk"/>
              </a:rPr>
              <a:t>"I analyze rainfall patterns across 50 telemetry nodes, but I lack validated sensor-to-mandi coordinate links. I refuse to fabricate mandi attribution without ground truth."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266" y="3606700"/>
            <a:ext cx="23098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AGROBUDDY VERIFIED REFUSAL: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895975"/>
            <a:ext cx="10972800" cy="542925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67875" y="600075"/>
            <a:ext cx="1914525" cy="342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371600"/>
            <a:ext cx="5372100" cy="441007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1371600"/>
            <a:ext cx="5372100" cy="441007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19100"/>
            <a:ext cx="2438400" cy="238125"/>
          </a:xfrm>
          <a:prstGeom prst="rect">
            <a:avLst/>
          </a:prstGeom>
          <a:solidFill>
            <a:srgbClr val="C026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8200" y="5191125"/>
            <a:ext cx="4914900" cy="36195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38900" y="5191125"/>
            <a:ext cx="4914900" cy="361950"/>
          </a:xfrm>
          <a:prstGeom prst="rect">
            <a:avLst/>
          </a:prstGeom>
          <a:solidFill>
            <a:srgbClr val="F5D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8200" y="1600200"/>
            <a:ext cx="1847850" cy="2762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38900" y="1600200"/>
            <a:ext cx="2038350" cy="276225"/>
          </a:xfrm>
          <a:prstGeom prst="rect">
            <a:avLst/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38200" y="231457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8200" y="267652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8200" y="303847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38900" y="231457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38900" y="267652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38900" y="3038475"/>
            <a:ext cx="4914900" cy="3048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2825" y="6072187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704850"/>
            <a:ext cx="133350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8675" y="6038850"/>
            <a:ext cx="6024562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ACC15"/>
                </a:solidFill>
                <a:latin typeface="Bebas Neue"/>
              </a:rPr>
              <a:t>AI HANDLES LANGUAGE. DETERMINISTIC ANALYTICS HANDLES TRUTH.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150"/>
            <a:ext cx="23812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8: AI SEPARATION OF POWERS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95325"/>
            <a:ext cx="6688335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WE DIDN'T PUT AN LLM EVERYWHERE!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20300" y="685800"/>
            <a:ext cx="1750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026D3"/>
                </a:solidFill>
                <a:latin typeface="Space Grotesk"/>
              </a:rPr>
              <a:t>2 SPECIALIZED BRAINS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037" y="5267325"/>
            <a:ext cx="59912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0000"/>
                </a:solidFill>
                <a:latin typeface="Space Grotesk"/>
              </a:rPr>
              <a:t>"Explains what the dashboard is showing"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0737" y="5267325"/>
            <a:ext cx="59912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00000"/>
                </a:solidFill>
                <a:latin typeface="Space Grotesk"/>
              </a:rPr>
              <a:t>"Generates custom charts on the fly"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450" y="1638300"/>
            <a:ext cx="17526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369A1"/>
                </a:solidFill>
                <a:latin typeface="Space Grotesk"/>
              </a:rPr>
              <a:t>PASSIVE AI • INSIGHT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1952625"/>
            <a:ext cx="61436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284C7"/>
                </a:solidFill>
                <a:latin typeface="Bangers"/>
              </a:rPr>
              <a:t>DASHBOARD EXPLAINER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4150" y="1638300"/>
            <a:ext cx="1943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A21CAF"/>
                </a:solidFill>
                <a:latin typeface="Space Grotesk"/>
              </a:rPr>
              <a:t>ACTIVE AI • AGROBUDDY GRAPH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900" y="1952625"/>
            <a:ext cx="57531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C026D3"/>
                </a:solidFill>
                <a:latin typeface="Bangers"/>
              </a:rPr>
              <a:t>QUESTION SOLVER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450" y="237172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Reads Pre-Aggregated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450" y="273367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Groq High-Speed Inference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450" y="309562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Produces Executive Briefs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4150" y="237172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Natural Language Intent Parser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4150" y="273367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Deterministic Semantic Queries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4150" y="3095625"/>
            <a:ext cx="48196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• Dynamic ECharts Compilation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67425"/>
            <a:ext cx="11049000" cy="409575"/>
          </a:xfrm>
          <a:prstGeom prst="rect">
            <a:avLst/>
          </a:prstGeom>
          <a:solidFill>
            <a:srgbClr val="FDE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096500" y="571500"/>
            <a:ext cx="1524000" cy="314325"/>
          </a:xfrm>
          <a:prstGeom prst="rect">
            <a:avLst/>
          </a:prstGeom>
          <a:solidFill>
            <a:srgbClr val="FEF08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852612"/>
            <a:ext cx="5448300" cy="35528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72200" y="1852612"/>
            <a:ext cx="5448300" cy="3552825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81000"/>
            <a:ext cx="2657475" cy="2381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976437"/>
            <a:ext cx="2886075" cy="2095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86500" y="1976437"/>
            <a:ext cx="3000375" cy="20955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5" y="666750"/>
            <a:ext cx="152400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3137"/>
            <a:ext cx="5219700" cy="3048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243137"/>
            <a:ext cx="5219700" cy="3048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24062"/>
            <a:ext cx="114300" cy="1143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262187"/>
            <a:ext cx="5181600" cy="3009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2024062"/>
            <a:ext cx="133350" cy="1143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5550" y="2262187"/>
            <a:ext cx="5181600" cy="3009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42950" y="6143625"/>
            <a:ext cx="108013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00000"/>
                </a:solidFill>
                <a:latin typeface="Space Grotesk"/>
              </a:rPr>
              <a:t>⚡ PROOF: AgroBuddy does NOT retrieve canned charts. It compiles fresh ECharts specifications dynamically!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00050"/>
            <a:ext cx="26003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9: INTERACTIVE GRAPH IN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647700"/>
            <a:ext cx="7050881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ASK AGROBUDDY: MULTI-HOP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8925" y="647700"/>
            <a:ext cx="13144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00000"/>
                </a:solidFill>
                <a:latin typeface="Space Grotesk"/>
              </a:rPr>
              <a:t>LIVE AGENT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1999191"/>
            <a:ext cx="28289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STEP 1: NATURAL LANGUAGE INTENT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1300" y="1995487"/>
            <a:ext cx="29432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 dirty="0">
                <a:solidFill>
                  <a:srgbClr val="FFFFFF"/>
                </a:solidFill>
                <a:latin typeface="Space Grotesk"/>
              </a:rPr>
              <a:t>STEP 2: DYNAMIC CHART SPECIFICATION &amp; ACTION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C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38850"/>
            <a:ext cx="10972800" cy="400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610725" y="600075"/>
            <a:ext cx="1971675" cy="3429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454324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99049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43773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88498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33223" y="2919412"/>
            <a:ext cx="1749474" cy="8477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5429250"/>
            <a:ext cx="4933950" cy="609600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34050" y="5519737"/>
            <a:ext cx="5848350" cy="4286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419100"/>
            <a:ext cx="2486025" cy="23812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2650" y="704850"/>
            <a:ext cx="13335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00100" y="6134100"/>
            <a:ext cx="106870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Space Grotesk"/>
              </a:rPr>
              <a:t>💬 </a:t>
            </a:r>
            <a:r>
              <a:rPr sz="1275" b="1" i="0" u="none">
                <a:solidFill>
                  <a:srgbClr val="FACC15"/>
                </a:solidFill>
                <a:latin typeface="Space Grotesk"/>
              </a:rPr>
              <a:t>CORE TAKEAWAY:</a:t>
            </a:r>
            <a:r>
              <a:rPr sz="1275" b="1" i="0" u="none">
                <a:solidFill>
                  <a:srgbClr val="FFFFFF"/>
                </a:solidFill>
                <a:latin typeface="Space Grotesk"/>
              </a:rPr>
              <a:t> "The agent chooses the question's shape — not the database's truth."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5610225"/>
            <a:ext cx="4724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991B1B"/>
                </a:solidFill>
                <a:latin typeface="Space Grotesk"/>
              </a:rPr>
              <a:t>❌ BANNED: LLM executing arbitrary raw SQL against the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6450" y="5614987"/>
            <a:ext cx="56388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166534"/>
                </a:solidFill>
                <a:latin typeface="Space Grotesk"/>
              </a:rPr>
              <a:t>✅ AGROBUDDY: LLM → Validated Typed Intent → Deterministic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8150"/>
            <a:ext cx="24288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Space Grotesk"/>
              </a:rPr>
              <a:t>CHAPTER 10: ARCHITECTURAL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95325"/>
            <a:ext cx="8032253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000000"/>
                </a:solidFill>
                <a:latin typeface="Bangers"/>
              </a:rPr>
              <a:t>FROM NATURAL LANGUAGE TO SAFE ACTION!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3150" y="685800"/>
            <a:ext cx="1821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Space Grotesk"/>
              </a:rPr>
              <a:t>TYPED INTENT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509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9509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509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Voice/Text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234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4234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INTENT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234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LangGraph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8958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8958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8958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Schema Lock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3683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3683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ANALYZE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3683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DuckDB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48407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8407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VISUALIZE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48407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ECharts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3132" y="3062287"/>
            <a:ext cx="182965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6B7280"/>
                </a:solidFill>
                <a:latin typeface="Space Grotesk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3132" y="3233737"/>
            <a:ext cx="182965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00000"/>
                </a:solidFill>
                <a:latin typeface="Bangers"/>
              </a:rPr>
              <a:t>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3132" y="3462337"/>
            <a:ext cx="182965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000000"/>
                </a:solidFill>
                <a:latin typeface="Space Grotesk"/>
              </a:rPr>
              <a:t>Brief</a:t>
            </a:r>
          </a:p>
        </p:txBody>
      </p:sp>
    </p:spTree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19100"/>
            <a:ext cx="10972800" cy="981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5524500"/>
            <a:ext cx="10972800" cy="914400"/>
          </a:xfrm>
          <a:prstGeom prst="rect">
            <a:avLst/>
          </a:prstGeom>
          <a:solidFill>
            <a:srgbClr val="FACC15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33900" y="419100"/>
            <a:ext cx="3124200" cy="266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362075"/>
            <a:ext cx="10972800" cy="38100"/>
          </a:xfrm>
          <a:prstGeom prst="rect">
            <a:avLst/>
          </a:prstGeom>
          <a:solidFill>
            <a:srgbClr val="FACC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076575"/>
            <a:ext cx="2072580" cy="771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34580" y="3076575"/>
            <a:ext cx="2072580" cy="771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59560" y="3076575"/>
            <a:ext cx="2072580" cy="771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84541" y="3076575"/>
            <a:ext cx="2072580" cy="771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09521" y="3076575"/>
            <a:ext cx="2072580" cy="771525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57675" y="447675"/>
            <a:ext cx="36766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FFFFFF"/>
                </a:solidFill>
                <a:latin typeface="Space Grotesk"/>
              </a:rPr>
              <a:t>FINALE • THE NEW BOARD 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381000" y="742950"/>
            <a:ext cx="12954000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FFFFFF"/>
                </a:solidFill>
                <a:latin typeface="Bangers"/>
              </a:rPr>
              <a:t>THE AGRICULTURE BOARD'S NEW DECISION LOOP!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2153" y="5732561"/>
            <a:ext cx="1051249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0" i="0" u="none" dirty="0">
                <a:solidFill>
                  <a:srgbClr val="000000"/>
                </a:solidFill>
                <a:latin typeface="Bangers"/>
              </a:rPr>
              <a:t>"AGROBUDDY DOES NOT REPLACE HUMAN JUDGMENT — IT GIVES IT A BETTER VIEW OF THE FIELD!"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214312" y="6048375"/>
            <a:ext cx="12620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F2937"/>
                </a:solidFill>
                <a:latin typeface="Space Grotesk"/>
              </a:rPr>
              <a:t>From Raw Mandi Data to High-Confidence Board Decisions.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933" y="3238500"/>
            <a:ext cx="218591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2563EB"/>
                </a:solidFill>
                <a:latin typeface="Bangers"/>
              </a:rPr>
              <a:t>OBSERVE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933" y="351472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F2937"/>
                </a:solidFill>
                <a:latin typeface="Space Grotesk"/>
              </a:rPr>
              <a:t>5 Signal Feeds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7914" y="3238500"/>
            <a:ext cx="218591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7C3AED"/>
                </a:solidFill>
                <a:latin typeface="Bangers"/>
              </a:rPr>
              <a:t>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7914" y="351472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F2937"/>
                </a:solidFill>
                <a:latin typeface="Space Grotesk"/>
              </a:rPr>
              <a:t>Cross-Domain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2894" y="3238500"/>
            <a:ext cx="218591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EA580C"/>
                </a:solidFill>
                <a:latin typeface="Bangers"/>
              </a:rPr>
              <a:t>PREDICT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2894" y="351472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F2937"/>
                </a:solidFill>
                <a:latin typeface="Space Grotesk"/>
              </a:rPr>
              <a:t>7-Day Supply Outlook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7875" y="3238500"/>
            <a:ext cx="218591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DC2626"/>
                </a:solidFill>
                <a:latin typeface="Bangers"/>
              </a:rPr>
              <a:t>PRIORITIZE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7875" y="351472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F2937"/>
                </a:solidFill>
                <a:latin typeface="Space Grotesk"/>
              </a:rPr>
              <a:t>Mandi Vulnerability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2855" y="3238500"/>
            <a:ext cx="218591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16A34A"/>
                </a:solidFill>
                <a:latin typeface="Bangers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52855" y="3514725"/>
            <a:ext cx="218591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F2937"/>
                </a:solidFill>
                <a:latin typeface="Space Grotesk"/>
              </a:rPr>
              <a:t>Operational Policy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9C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6038850"/>
            <a:ext cx="11049000" cy="438150"/>
          </a:xfrm>
          <a:prstGeom prst="rect">
            <a:avLst/>
          </a:prstGeom>
          <a:solidFill>
            <a:srgbClr val="0F172A"/>
          </a:solidFill>
          <a:ln w="285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028700"/>
            <a:ext cx="2647950" cy="4876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71850" y="1028700"/>
            <a:ext cx="2647950" cy="4876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1028700"/>
            <a:ext cx="2647950" cy="4876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72550" y="1028700"/>
            <a:ext cx="2647950" cy="4876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62000" y="5410200"/>
            <a:ext cx="2266950" cy="3048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62350" y="5410200"/>
            <a:ext cx="2266950" cy="30480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62700" y="5410200"/>
            <a:ext cx="2266950" cy="304800"/>
          </a:xfrm>
          <a:prstGeom prst="rect">
            <a:avLst/>
          </a:prstGeom>
          <a:solidFill>
            <a:srgbClr val="F5D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63050" y="5410200"/>
            <a:ext cx="2266950" cy="304800"/>
          </a:xfrm>
          <a:prstGeom prst="rect">
            <a:avLst/>
          </a:prstGeom>
          <a:solidFill>
            <a:srgbClr val="FED7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2000" y="1219200"/>
            <a:ext cx="2266950" cy="276225"/>
          </a:xfrm>
          <a:prstGeom prst="rect">
            <a:avLst/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62350" y="1219200"/>
            <a:ext cx="2266950" cy="2762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62700" y="1219200"/>
            <a:ext cx="2266950" cy="276225"/>
          </a:xfrm>
          <a:prstGeom prst="rect">
            <a:avLst/>
          </a:prstGeom>
          <a:solidFill>
            <a:srgbClr val="FA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63050" y="1219200"/>
            <a:ext cx="2266950" cy="276225"/>
          </a:xfrm>
          <a:prstGeom prst="rect">
            <a:avLst/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62000" y="188595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2000" y="2200275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2000" y="251460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62350" y="188595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562350" y="2200275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562350" y="251460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62700" y="188595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62700" y="2200275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362700" y="251460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63050" y="188595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63050" y="2200275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63050" y="2514600"/>
            <a:ext cx="2266950" cy="2571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9975" y="6162675"/>
            <a:ext cx="171450" cy="1905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1295400"/>
            <a:ext cx="104775" cy="1238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237" y="1295400"/>
            <a:ext cx="152400" cy="123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7062" y="1295400"/>
            <a:ext cx="123825" cy="1238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275" y="1295400"/>
            <a:ext cx="104775" cy="1238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90575" y="6167437"/>
            <a:ext cx="1115615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Space Grotesk"/>
              </a:rPr>
              <a:t>⚡ </a:t>
            </a:r>
            <a:r>
              <a:rPr sz="1125" b="1" i="0" u="none">
                <a:solidFill>
                  <a:srgbClr val="FACC15"/>
                </a:solidFill>
                <a:latin typeface="Space Grotesk"/>
              </a:rPr>
              <a:t>ZERO BOTTLENECK ARCHITECTURE:</a:t>
            </a:r>
            <a:r>
              <a:rPr sz="1125" b="1" i="0" u="none">
                <a:solidFill>
                  <a:srgbClr val="FFFFFF"/>
                </a:solidFill>
                <a:latin typeface="Space Grotesk"/>
              </a:rPr>
              <a:t> Columnar Parquet + in-memory DuckDB guarantees sub-second response on 63k+ records.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5050" y="381000"/>
            <a:ext cx="6663332" cy="400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1" i="0" u="none">
                <a:solidFill>
                  <a:srgbClr val="000000"/>
                </a:solidFill>
                <a:latin typeface="Bangers"/>
              </a:rPr>
              <a:t>FULL-STACK PIPELINE SPECIFICATION!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5781" y="5467350"/>
            <a:ext cx="2719387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075985"/>
                </a:solidFill>
                <a:latin typeface="Space Grotesk"/>
              </a:rPr>
              <a:t>SUB-SECOND COLUMNAR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6131" y="5467350"/>
            <a:ext cx="2719387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166534"/>
                </a:solidFill>
                <a:latin typeface="Space Grotesk"/>
              </a:rPr>
              <a:t>STRICT SCHEMA BOUNDS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6481" y="5467350"/>
            <a:ext cx="2719387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86198F"/>
                </a:solidFill>
                <a:latin typeface="Space Grotesk"/>
              </a:rPr>
              <a:t>HYBRID REASONING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36831" y="5467350"/>
            <a:ext cx="27193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 dirty="0">
                <a:solidFill>
                  <a:srgbClr val="9A3412"/>
                </a:solidFill>
                <a:latin typeface="Space Grotesk"/>
              </a:rPr>
              <a:t>DYNAMIC COMPILATION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8497" y="1275821"/>
            <a:ext cx="26812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0369A1"/>
                </a:solidFill>
                <a:latin typeface="Space Grotesk"/>
              </a:rPr>
              <a:t>TIER 1: STORAGE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000" y="1590675"/>
            <a:ext cx="283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0284C7"/>
                </a:solidFill>
                <a:latin typeface="Bangers"/>
              </a:rPr>
              <a:t>INGEST &amp; STORAGE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3287" y="1275820"/>
            <a:ext cx="26812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15803D"/>
                </a:solidFill>
                <a:latin typeface="Space Grotesk"/>
              </a:rPr>
              <a:t>TIER 2: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2350" y="1590675"/>
            <a:ext cx="283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6A34A"/>
                </a:solidFill>
                <a:latin typeface="Bangers"/>
              </a:rPr>
              <a:t>CORE API &amp;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2922" y="1275819"/>
            <a:ext cx="26812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A21CAF"/>
                </a:solidFill>
                <a:latin typeface="Space Grotesk"/>
              </a:rPr>
              <a:t>TIER 3: 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62700" y="1590675"/>
            <a:ext cx="283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C026D3"/>
                </a:solidFill>
                <a:latin typeface="Bangers"/>
              </a:rPr>
              <a:t>INTELLIGENCE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987" y="1286933"/>
            <a:ext cx="2681287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 dirty="0">
                <a:solidFill>
                  <a:srgbClr val="C2410C"/>
                </a:solidFill>
                <a:latin typeface="Space Grotesk"/>
              </a:rPr>
              <a:t>TIER 4: CLIENT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63050" y="1590675"/>
            <a:ext cx="283368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EA580C"/>
                </a:solidFill>
                <a:latin typeface="Bangers"/>
              </a:rPr>
              <a:t>PRESENTATION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200" y="192405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Raw CSV / Multilingual ETL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2238375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Partitioned Parquet Storage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200" y="255270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In-Memory DuckDB Queries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38550" y="192405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FastAPI Async Server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8550" y="2238375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Semantic Analytics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38550" y="255270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Pydantic Typed Validation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8900" y="192405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LangGraph State Machine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8900" y="2238375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Groq High-Speed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38900" y="255270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Scikit-Learn Forecasting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9250" y="192405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React 18 Modular Views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9250" y="2238375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Apache ECharts Visuals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9250" y="2552700"/>
            <a:ext cx="22098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Space Grotesk"/>
              </a:rPr>
              <a:t>• Tailored Decision Surfaces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5159" y="392702"/>
            <a:ext cx="1799581" cy="34807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12805" y="1719262"/>
            <a:ext cx="5569594" cy="15049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12805" y="3338512"/>
            <a:ext cx="5569594" cy="177165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03305" y="2214562"/>
            <a:ext cx="5188594" cy="381000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3305" y="2671762"/>
            <a:ext cx="5188594" cy="361950"/>
          </a:xfrm>
          <a:prstGeom prst="rect">
            <a:avLst/>
          </a:prstGeom>
          <a:solidFill>
            <a:srgbClr val="F8FAF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03305" y="3833812"/>
            <a:ext cx="2556123" cy="504825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35628" y="3833812"/>
            <a:ext cx="2556271" cy="504825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03305" y="4414837"/>
            <a:ext cx="2556123" cy="504825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835628" y="4414837"/>
            <a:ext cx="2556271" cy="504825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15625" y="2309812"/>
            <a:ext cx="542925" cy="1905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429875" y="2767012"/>
            <a:ext cx="828675" cy="1714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0" y="500062"/>
            <a:ext cx="114300" cy="1333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305" y="1919287"/>
            <a:ext cx="204787" cy="1905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305" y="3538537"/>
            <a:ext cx="252412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655" y="2328862"/>
            <a:ext cx="133350" cy="1524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655" y="2767012"/>
            <a:ext cx="16192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8675" y="6105525"/>
            <a:ext cx="636389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00000"/>
                </a:solidFill>
                <a:latin typeface="Bangers"/>
              </a:rPr>
              <a:t>BUILT FOR IMPACT • READY TO DEPLOY FOR STATE APMC AUTHORITIES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12" y="481012"/>
            <a:ext cx="1666231" cy="271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Space Grotesk"/>
              </a:rPr>
              <a:t>THE MISSION CONTINUES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19100"/>
            <a:ext cx="480060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 dirty="0">
                <a:solidFill>
                  <a:srgbClr val="FACC15"/>
                </a:solidFill>
                <a:latin typeface="Bebas Neue"/>
              </a:rPr>
              <a:t>AGROBUDDY • MISSION CONTROL DEPLOYED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9350" y="481012"/>
            <a:ext cx="1762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0000"/>
                </a:solidFill>
                <a:latin typeface="Space Grotesk"/>
              </a:rPr>
              <a:t>V1.0 LIVE PRODUCTION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4292" y="1909762"/>
            <a:ext cx="570770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2563EB"/>
                </a:solidFill>
                <a:latin typeface="Bangers"/>
              </a:rPr>
              <a:t>ACCESS PLATFORM &amp; REPOSITORY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1917" y="3529012"/>
            <a:ext cx="5660082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i="0" u="none">
                <a:solidFill>
                  <a:srgbClr val="16A34A"/>
                </a:solidFill>
                <a:latin typeface="Bangers"/>
              </a:rPr>
              <a:t>MISSION TEAM &amp; CONTRIBUTORS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91825" y="2328862"/>
            <a:ext cx="4857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FFFFFF"/>
                </a:solidFill>
                <a:latin typeface="Space Grotesk"/>
              </a:rPr>
              <a:t>VERCEL</a:t>
            </a:r>
          </a:p>
        </p:txBody>
      </p:sp>
      <p:sp>
        <p:nvSpPr>
          <p:cNvPr id="37" name="TextBox 36">
            <a:hlinkClick r:id="rId7"/>
          </p:cNvPr>
          <p:cNvSpPr txBox="1"/>
          <p:nvPr/>
        </p:nvSpPr>
        <p:spPr>
          <a:xfrm>
            <a:off x="10506075" y="2786062"/>
            <a:ext cx="771525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1" i="0" u="none" dirty="0">
                <a:solidFill>
                  <a:srgbClr val="FFFFFF"/>
                </a:solidFill>
                <a:latin typeface="Space Grotesk"/>
              </a:rPr>
              <a:t>OPEN SOURCE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7605" y="3929062"/>
            <a:ext cx="29094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Space Grotesk"/>
              </a:rPr>
              <a:t>Harsh Singh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7605" y="4110037"/>
            <a:ext cx="290940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monospace"/>
              </a:rPr>
              <a:t>ID: 1237841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49928" y="3929062"/>
            <a:ext cx="290958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Space Grotesk"/>
              </a:rPr>
              <a:t>Shayan Akhtar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9928" y="4110037"/>
            <a:ext cx="29095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monospace"/>
              </a:rPr>
              <a:t>ID: 12317465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7605" y="4510087"/>
            <a:ext cx="2909403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Space Grotesk"/>
              </a:rPr>
              <a:t>MD Zaki Zafar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7605" y="4691062"/>
            <a:ext cx="290940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monospace"/>
              </a:rPr>
              <a:t>ID: 12317465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49928" y="4510087"/>
            <a:ext cx="290958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5803D"/>
                </a:solidFill>
                <a:latin typeface="Space Grotesk"/>
              </a:rPr>
              <a:t>Ayush Pandey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49928" y="4691062"/>
            <a:ext cx="2909589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4B5563"/>
                </a:solidFill>
                <a:latin typeface="monospace"/>
              </a:rPr>
              <a:t>ID: 12319468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6205" y="232410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Space Grotesk"/>
              </a:rPr>
              <a:t>LIVE APP: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5805" y="2333625"/>
            <a:ext cx="232227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11827"/>
                </a:solidFill>
                <a:latin typeface="monospace"/>
              </a:rPr>
              <a:t>agro-buddy-psi.vercel.app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74780" y="2771775"/>
            <a:ext cx="77152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11827"/>
                </a:solidFill>
                <a:latin typeface="Space Grotesk"/>
              </a:rPr>
              <a:t>GITHUB: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6755" y="2781300"/>
            <a:ext cx="250793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74151"/>
                </a:solidFill>
                <a:latin typeface="monospace"/>
              </a:rPr>
              <a:t>shayan-codes-405/agro-buddy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E0C4B184-9836-0233-9B7F-AF409EA6B6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2537" y="1671315"/>
            <a:ext cx="5575968" cy="337481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97AE487-5FD6-05CB-CE65-A3BCE4A51F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537" y="5884333"/>
            <a:ext cx="11176668" cy="457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1271</Words>
  <Application>Microsoft Office PowerPoint</Application>
  <PresentationFormat>Widescreen</PresentationFormat>
  <Paragraphs>260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Bangers</vt:lpstr>
      <vt:lpstr>Bebas Neue</vt:lpstr>
      <vt:lpstr>Calibri</vt:lpstr>
      <vt:lpstr>monospace</vt:lpstr>
      <vt:lpstr>Space Grotesk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keywords/>
  <dc:description>generated using python-pptx</dc:description>
  <cp:lastModifiedBy>Shayan Akhtar</cp:lastModifiedBy>
  <cp:revision>7</cp:revision>
  <dcterms:created xsi:type="dcterms:W3CDTF">2013-01-27T09:14:16Z</dcterms:created>
  <dcterms:modified xsi:type="dcterms:W3CDTF">2026-09-16T21:20:06Z</dcterms:modified>
  <cp:category/>
</cp:coreProperties>
</file>